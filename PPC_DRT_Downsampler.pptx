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5" name="Shape 3"/>
          <p:cNvSpPr/>
          <p:nvPr/>
        </p:nvSpPr>
        <p:spPr>
          <a:xfrm>
            <a:off x="1408176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6" name="Shape 4"/>
          <p:cNvSpPr/>
          <p:nvPr/>
        </p:nvSpPr>
        <p:spPr>
          <a:xfrm>
            <a:off x="1664208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8" name="Shape 6"/>
          <p:cNvSpPr/>
          <p:nvPr/>
        </p:nvSpPr>
        <p:spPr>
          <a:xfrm>
            <a:off x="2176272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9" name="Shape 7"/>
          <p:cNvSpPr/>
          <p:nvPr/>
        </p:nvSpPr>
        <p:spPr>
          <a:xfrm>
            <a:off x="2432304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0" name="Shape 8"/>
          <p:cNvSpPr/>
          <p:nvPr/>
        </p:nvSpPr>
        <p:spPr>
          <a:xfrm>
            <a:off x="2688336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1" name="Shape 9"/>
          <p:cNvSpPr/>
          <p:nvPr/>
        </p:nvSpPr>
        <p:spPr>
          <a:xfrm>
            <a:off x="2944368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3" name="Shape 11"/>
          <p:cNvSpPr/>
          <p:nvPr/>
        </p:nvSpPr>
        <p:spPr>
          <a:xfrm>
            <a:off x="3456432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4" name="Shape 12"/>
          <p:cNvSpPr/>
          <p:nvPr/>
        </p:nvSpPr>
        <p:spPr>
          <a:xfrm>
            <a:off x="3712464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5" name="Shape 13"/>
          <p:cNvSpPr/>
          <p:nvPr/>
        </p:nvSpPr>
        <p:spPr>
          <a:xfrm>
            <a:off x="3968496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6" name="Shape 14"/>
          <p:cNvSpPr/>
          <p:nvPr/>
        </p:nvSpPr>
        <p:spPr>
          <a:xfrm>
            <a:off x="4224528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8" name="Shape 16"/>
          <p:cNvSpPr/>
          <p:nvPr/>
        </p:nvSpPr>
        <p:spPr>
          <a:xfrm>
            <a:off x="4736592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9" name="Shape 17"/>
          <p:cNvSpPr/>
          <p:nvPr/>
        </p:nvSpPr>
        <p:spPr>
          <a:xfrm>
            <a:off x="4992624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20" name="Shape 18"/>
          <p:cNvSpPr/>
          <p:nvPr/>
        </p:nvSpPr>
        <p:spPr>
          <a:xfrm>
            <a:off x="5248656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21" name="Shape 19"/>
          <p:cNvSpPr/>
          <p:nvPr/>
        </p:nvSpPr>
        <p:spPr>
          <a:xfrm>
            <a:off x="5504688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22" name="Shape 20"/>
          <p:cNvSpPr/>
          <p:nvPr/>
        </p:nvSpPr>
        <p:spPr>
          <a:xfrm>
            <a:off x="5760720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23" name="Shape 21"/>
          <p:cNvSpPr/>
          <p:nvPr/>
        </p:nvSpPr>
        <p:spPr>
          <a:xfrm>
            <a:off x="6016752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24" name="Shape 22"/>
          <p:cNvSpPr/>
          <p:nvPr/>
        </p:nvSpPr>
        <p:spPr>
          <a:xfrm>
            <a:off x="6272784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25" name="Shape 23"/>
          <p:cNvSpPr/>
          <p:nvPr/>
        </p:nvSpPr>
        <p:spPr>
          <a:xfrm>
            <a:off x="6528816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26" name="Shape 24"/>
          <p:cNvSpPr/>
          <p:nvPr/>
        </p:nvSpPr>
        <p:spPr>
          <a:xfrm>
            <a:off x="6784848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0" y="1417320"/>
            <a:ext cx="41148" cy="4114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OVERVIEW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26517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PPC DRT Downsampler</a:t>
            </a:r>
            <a:endParaRPr lang="en-US" sz="5000" dirty="0"/>
          </a:p>
        </p:txBody>
      </p:sp>
      <p:sp>
        <p:nvSpPr>
          <p:cNvPr id="30" name="Text 28"/>
          <p:cNvSpPr/>
          <p:nvPr/>
        </p:nvSpPr>
        <p:spPr>
          <a:xfrm>
            <a:off x="64008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FD9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Turning a full-scale PPC DRT scenario into a fast, self-contained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FD9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MATSim scenario — one script, no JVM required.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5074920"/>
            <a:ext cx="2331720" cy="384048"/>
          </a:xfrm>
          <a:prstGeom prst="roundRect">
            <a:avLst>
              <a:gd name="adj" fmla="val 47000"/>
            </a:avLst>
          </a:prstGeom>
          <a:solidFill>
            <a:srgbClr val="0C3D6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074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DOWNSAMPLE_PIPELINE.PY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downsample_pipeline.py  •  Pure Python 3, standard library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THIS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Full-size scenarios are too heavy to iterate 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full-size PPC DRT scenario carries the whole population, 20 tricycle-zone (TODA) fleets, the citywide transit network and schedule, and every DRT stop and service area — all sized for a real, iteration-heavy MATSim run.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is the wrong tool for a quick test, a demo, or a first pass at tuning a config.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tool builds a smaller version of the same scenario — population, fleets, transit capacity, network, schedule, stops, and a generated config — as one self-contained, plug-and-play folder.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JVM, no Maven build, no git checkout of the project — just plain Python 3.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37960" y="1417320"/>
            <a:ext cx="5029200" cy="4709160"/>
          </a:xfrm>
          <a:prstGeom prst="roundRect">
            <a:avLst>
              <a:gd name="adj" fmla="val 4660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1783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2386584"/>
            <a:ext cx="100584" cy="100584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2128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Self-contained output —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C4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Copy the output\&lt;label&gt;\ folder anywhere — it still works, nothing points back to input\.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9440" y="3300984"/>
            <a:ext cx="100584" cy="100584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31272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JVM/Maven/git required —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C4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 Python 3, standard library only — nothing to build first.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4215384"/>
            <a:ext cx="100584" cy="100584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40416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Verified, not assumed —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C4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last step confirms every path the generated config references actually exists.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5129784"/>
            <a:ext cx="100584" cy="100584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49560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Fully configurable —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C4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Fraction, zones, iterations, fleet overrides — one SETTINGS block or command-line flags.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PPC DRT Downsampler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GOES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inputs, already bundled in input\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22144" cy="4480560"/>
          </a:xfrm>
          <a:prstGeom prst="roundRect">
            <a:avLst>
              <a:gd name="adj" fmla="val 8701"/>
            </a:avLst>
          </a:prstGeom>
          <a:solidFill>
            <a:srgbClr val="F3F7F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0512"/>
            <a:ext cx="1234440" cy="292608"/>
          </a:xfrm>
          <a:prstGeom prst="roundRect">
            <a:avLst>
              <a:gd name="adj" fmla="val 47000"/>
            </a:avLst>
          </a:prstGeom>
          <a:solidFill>
            <a:srgbClr val="1E70B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10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96112" y="2331720"/>
            <a:ext cx="566928" cy="56692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3090672"/>
            <a:ext cx="201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Population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493008"/>
            <a:ext cx="201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plans.xml.gz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4096512"/>
            <a:ext cx="2010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full plans file — not an already-downsampled one. Streamed and thinned person-by-person.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36544" y="1554480"/>
            <a:ext cx="2522144" cy="4480560"/>
          </a:xfrm>
          <a:prstGeom prst="roundRect">
            <a:avLst>
              <a:gd name="adj" fmla="val 8701"/>
            </a:avLst>
          </a:prstGeom>
          <a:solidFill>
            <a:srgbClr val="F3F7F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2576" y="1810512"/>
            <a:ext cx="1234440" cy="292608"/>
          </a:xfrm>
          <a:prstGeom prst="roundRect">
            <a:avLst>
              <a:gd name="adj" fmla="val 47000"/>
            </a:avLst>
          </a:prstGeom>
          <a:solidFill>
            <a:srgbClr val="1E70BE"/>
          </a:solidFill>
          <a:ln/>
        </p:spPr>
      </p:sp>
      <p:sp>
        <p:nvSpPr>
          <p:cNvPr id="14" name="Text 12"/>
          <p:cNvSpPr/>
          <p:nvPr/>
        </p:nvSpPr>
        <p:spPr>
          <a:xfrm>
            <a:off x="3692576" y="1810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92576" y="2331720"/>
            <a:ext cx="566928" cy="566928"/>
          </a:xfrm>
          <a:prstGeom prst="ellipse">
            <a:avLst/>
          </a:prstGeom>
          <a:solidFill>
            <a:srgbClr val="1E70BE"/>
          </a:solidFill>
          <a:ln/>
        </p:spPr>
      </p:sp>
      <p:sp>
        <p:nvSpPr>
          <p:cNvPr id="16" name="Text 14"/>
          <p:cNvSpPr/>
          <p:nvPr/>
        </p:nvSpPr>
        <p:spPr>
          <a:xfrm>
            <a:off x="369257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92576" y="3090672"/>
            <a:ext cx="201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DRT Fleets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92576" y="3493008"/>
            <a:ext cx="201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drt_full\ (20 files)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92576" y="4096512"/>
            <a:ext cx="2010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Full-size per-zone vehicle rosters, one file per tricycle zone (TODA), thinned with an even spread.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3008" y="1554480"/>
            <a:ext cx="2522144" cy="4480560"/>
          </a:xfrm>
          <a:prstGeom prst="roundRect">
            <a:avLst>
              <a:gd name="adj" fmla="val 8701"/>
            </a:avLst>
          </a:prstGeom>
          <a:solidFill>
            <a:srgbClr val="F3F7F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89040" y="1810512"/>
            <a:ext cx="1234440" cy="292608"/>
          </a:xfrm>
          <a:prstGeom prst="roundRect">
            <a:avLst>
              <a:gd name="adj" fmla="val 47000"/>
            </a:avLst>
          </a:prstGeom>
          <a:solidFill>
            <a:srgbClr val="1E70BE"/>
          </a:solidFill>
          <a:ln/>
        </p:spPr>
      </p:sp>
      <p:sp>
        <p:nvSpPr>
          <p:cNvPr id="22" name="Text 20"/>
          <p:cNvSpPr/>
          <p:nvPr/>
        </p:nvSpPr>
        <p:spPr>
          <a:xfrm>
            <a:off x="6489040" y="1810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89040" y="2331720"/>
            <a:ext cx="566928" cy="566928"/>
          </a:xfrm>
          <a:prstGeom prst="ellipse">
            <a:avLst/>
          </a:prstGeom>
          <a:solidFill>
            <a:srgbClr val="1D6E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890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89040" y="3090672"/>
            <a:ext cx="201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Network &amp; Transit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89040" y="3493008"/>
            <a:ext cx="201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ppc-network / -schedule / -vehicles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89040" y="4096512"/>
            <a:ext cx="2010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Citywide road network, transit schedule, and vehicle capacity — copied, fixed, and scaled.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29471" y="1554480"/>
            <a:ext cx="2522144" cy="4480560"/>
          </a:xfrm>
          <a:prstGeom prst="roundRect">
            <a:avLst>
              <a:gd name="adj" fmla="val 8701"/>
            </a:avLst>
          </a:prstGeom>
          <a:solidFill>
            <a:srgbClr val="F3F7F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85503" y="1810512"/>
            <a:ext cx="1234440" cy="292608"/>
          </a:xfrm>
          <a:prstGeom prst="roundRect">
            <a:avLst>
              <a:gd name="adj" fmla="val 47000"/>
            </a:avLst>
          </a:prstGeom>
          <a:solidFill>
            <a:srgbClr val="0C3D6B"/>
          </a:solidFill>
          <a:ln/>
        </p:spPr>
      </p:sp>
      <p:sp>
        <p:nvSpPr>
          <p:cNvPr id="30" name="Text 28"/>
          <p:cNvSpPr/>
          <p:nvPr/>
        </p:nvSpPr>
        <p:spPr>
          <a:xfrm>
            <a:off x="9285503" y="18105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285503" y="2331720"/>
            <a:ext cx="566928" cy="566928"/>
          </a:xfrm>
          <a:prstGeom prst="ellipse">
            <a:avLst/>
          </a:prstGeom>
          <a:solidFill>
            <a:srgbClr val="0C3D6B"/>
          </a:solidFill>
          <a:ln/>
        </p:spPr>
      </p:sp>
      <p:sp>
        <p:nvSpPr>
          <p:cNvPr id="32" name="Text 30"/>
          <p:cNvSpPr/>
          <p:nvPr/>
        </p:nvSpPr>
        <p:spPr>
          <a:xfrm>
            <a:off x="9285503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285503" y="3090672"/>
            <a:ext cx="201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 Template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85503" y="3493008"/>
            <a:ext cx="201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drt-run-config-template.xml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85503" y="4096512"/>
            <a:ext cx="2010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one-time snapshot this tool edits — not read live from any repo checkout.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PPC DRT Downsampler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FOLDER LAYOUT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tool folder in, one scenario folder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4617720"/>
          </a:xfrm>
          <a:prstGeom prst="roundRect">
            <a:avLst>
              <a:gd name="adj" fmla="val 4752"/>
            </a:avLst>
          </a:prstGeom>
          <a:solidFill>
            <a:srgbClr val="F3F7F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830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ppc-drt-downsampler\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221992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downsample_pipeline.py   &lt;- the tool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run.bat                  &lt;- double-click to run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input\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plans.xml.gz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ppc-vehicles.xml.gz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ppc-network-transit-mapped.xml.gz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ppc-schedule-mapped.xml.gz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drt-run-config-template.xml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drt_full\           (20 files)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drt-stops\          (20 files)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\- service-areas\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output\                 &lt;- created per run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257800" cy="4617720"/>
          </a:xfrm>
          <a:prstGeom prst="roundRect">
            <a:avLst>
              <a:gd name="adj" fmla="val 4752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B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output\&lt;label&gt;\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2221992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drt-run-config.xml   &lt;- point MATSim at this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plans\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\- plans.xml.gz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network\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\- ppc-network-transit-mapped.xml.gz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pt\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\- ppc-schedule-mapped.xml.gz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vehicles\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|- ppc-vehicles.xml.gz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\- drt\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\- drt_vehicles_&lt;mode&gt;.xml  x20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drt-stops\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service-areas\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path inside drt-run-config.xml is relative to this same folder — nothing points back out to input\ or to any other project.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PPC DRT Downsampler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steps, one run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417320"/>
          </a:xfrm>
          <a:prstGeom prst="roundRect">
            <a:avLst>
              <a:gd name="adj" fmla="val 15484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1305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Population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Streams plans.xml.gz, keeps each person by random draw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91256" y="2327148"/>
            <a:ext cx="230429" cy="164592"/>
          </a:xfrm>
          <a:prstGeom prst="rightArrow">
            <a:avLst/>
          </a:prstGeom>
          <a:solidFill>
            <a:srgbClr val="5C7C99"/>
          </a:solidFill>
          <a:ln/>
        </p:spPr>
      </p:sp>
      <p:sp>
        <p:nvSpPr>
          <p:cNvPr id="9" name="Shape 7"/>
          <p:cNvSpPr/>
          <p:nvPr/>
        </p:nvSpPr>
        <p:spPr>
          <a:xfrm>
            <a:off x="3410712" y="1691640"/>
            <a:ext cx="2514600" cy="1417320"/>
          </a:xfrm>
          <a:prstGeom prst="roundRect">
            <a:avLst>
              <a:gd name="adj" fmla="val 15484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75304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75304" y="21305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DRT Fleets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75304" y="251460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Picks evenly-spaced vehicles per zone, floor-protected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61888" y="2327148"/>
            <a:ext cx="230429" cy="164592"/>
          </a:xfrm>
          <a:prstGeom prst="rightArrow">
            <a:avLst/>
          </a:prstGeom>
          <a:solidFill>
            <a:srgbClr val="5C7C9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1344" y="1691640"/>
            <a:ext cx="2514600" cy="1417320"/>
          </a:xfrm>
          <a:prstGeom prst="roundRect">
            <a:avLst>
              <a:gd name="adj" fmla="val 15484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21305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Network Fix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45936" y="251460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Multiplies permlanes on connector &amp; terminal links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732520" y="2327148"/>
            <a:ext cx="230429" cy="164592"/>
          </a:xfrm>
          <a:prstGeom prst="rightArrow">
            <a:avLst/>
          </a:prstGeom>
          <a:solidFill>
            <a:srgbClr val="5C7C99"/>
          </a:solidFill>
          <a:ln/>
        </p:spPr>
      </p:sp>
      <p:sp>
        <p:nvSpPr>
          <p:cNvPr id="19" name="Shape 17"/>
          <p:cNvSpPr/>
          <p:nvPr/>
        </p:nvSpPr>
        <p:spPr>
          <a:xfrm>
            <a:off x="8951976" y="1691640"/>
            <a:ext cx="2514600" cy="1417320"/>
          </a:xfrm>
          <a:prstGeom prst="roundRect">
            <a:avLst>
              <a:gd name="adj" fmla="val 15484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16568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16568" y="21305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Transit Capacity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16568" y="251460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Scales bus seats and PCE by the same fraction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51976" y="3886200"/>
            <a:ext cx="2514600" cy="1417320"/>
          </a:xfrm>
          <a:prstGeom prst="roundRect">
            <a:avLst>
              <a:gd name="adj" fmla="val 15484"/>
            </a:avLst>
          </a:prstGeom>
          <a:solidFill>
            <a:srgbClr val="0C3D6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16568" y="3977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16568" y="432511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Stops &amp; Areas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116568" y="470916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Copies stop and service-area geometry, unscaled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50808" y="4521708"/>
            <a:ext cx="164592" cy="164592"/>
          </a:xfrm>
          <a:prstGeom prst="leftArrow">
            <a:avLst/>
          </a:prstGeom>
          <a:solidFill>
            <a:srgbClr val="5C7C99"/>
          </a:solidFill>
          <a:ln/>
        </p:spPr>
      </p:sp>
      <p:sp>
        <p:nvSpPr>
          <p:cNvPr id="28" name="Shape 26"/>
          <p:cNvSpPr/>
          <p:nvPr/>
        </p:nvSpPr>
        <p:spPr>
          <a:xfrm>
            <a:off x="6181344" y="3886200"/>
            <a:ext cx="2514600" cy="1417320"/>
          </a:xfrm>
          <a:prstGeom prst="roundRect">
            <a:avLst>
              <a:gd name="adj" fmla="val 15484"/>
            </a:avLst>
          </a:prstGeom>
          <a:solidFill>
            <a:srgbClr val="0C3D6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45936" y="3977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45936" y="432511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 Config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45936" y="470916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Rewrites paths, modes, and fallbacks into one XML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80176" y="4521708"/>
            <a:ext cx="164592" cy="164592"/>
          </a:xfrm>
          <a:prstGeom prst="leftArrow">
            <a:avLst/>
          </a:prstGeom>
          <a:solidFill>
            <a:srgbClr val="5C7C99"/>
          </a:solidFill>
          <a:ln/>
        </p:spPr>
      </p:sp>
      <p:sp>
        <p:nvSpPr>
          <p:cNvPr id="33" name="Shape 31"/>
          <p:cNvSpPr/>
          <p:nvPr/>
        </p:nvSpPr>
        <p:spPr>
          <a:xfrm>
            <a:off x="3410712" y="3886200"/>
            <a:ext cx="2514600" cy="1417320"/>
          </a:xfrm>
          <a:prstGeom prst="roundRect">
            <a:avLst>
              <a:gd name="adj" fmla="val 15484"/>
            </a:avLst>
          </a:prstGeom>
          <a:solidFill>
            <a:srgbClr val="0C3D6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575304" y="3977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75304" y="432511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 Output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575304" y="470916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Confirms every referenced file exists on disk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209276" y="3108960"/>
            <a:ext cx="914" cy="777240"/>
          </a:xfrm>
          <a:prstGeom prst="line">
            <a:avLst/>
          </a:prstGeom>
          <a:noFill/>
          <a:ln w="19050">
            <a:solidFill>
              <a:srgbClr val="5C7C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0080" y="5623560"/>
            <a:ext cx="1737360" cy="292608"/>
          </a:xfrm>
          <a:prstGeom prst="roundRect">
            <a:avLst>
              <a:gd name="adj" fmla="val 47000"/>
            </a:avLst>
          </a:prstGeom>
          <a:solidFill>
            <a:srgbClr val="042748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5623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STEPS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5623560"/>
            <a:ext cx="2194560" cy="292608"/>
          </a:xfrm>
          <a:prstGeom prst="roundRect">
            <a:avLst>
              <a:gd name="adj" fmla="val 47000"/>
            </a:avLst>
          </a:prstGeom>
          <a:solidFill>
            <a:srgbClr val="0C3D6B"/>
          </a:solidFill>
          <a:ln/>
        </p:spPr>
      </p:sp>
      <p:sp>
        <p:nvSpPr>
          <p:cNvPr id="41" name="Text 39"/>
          <p:cNvSpPr/>
          <p:nvPr/>
        </p:nvSpPr>
        <p:spPr>
          <a:xfrm>
            <a:off x="2560320" y="5623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PACKAGING &amp; VERIFY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PPC DRT Downsampler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SETTINGS block,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11535" cy="470916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64792"/>
            <a:ext cx="10399471" cy="402336"/>
          </a:xfrm>
          <a:prstGeom prst="rect">
            <a:avLst/>
          </a:prstGeom>
          <a:solidFill>
            <a:srgbClr val="0C3D6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64792"/>
            <a:ext cx="29369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25681" y="1764792"/>
            <a:ext cx="137704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DEFAULT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85602" y="1764792"/>
            <a:ext cx="39769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PURPOSE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45391" y="1764792"/>
            <a:ext cx="137704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67128"/>
            <a:ext cx="293696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25681" y="2167128"/>
            <a:ext cx="13770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85602" y="2167128"/>
            <a:ext cx="397690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much of the scenario to keep (0.01 = 1%, 1 = 100%)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827103" y="2240788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1E70BE"/>
          </a:solidFill>
          <a:ln/>
        </p:spPr>
      </p:sp>
      <p:sp>
        <p:nvSpPr>
          <p:cNvPr id="14" name="Text 12"/>
          <p:cNvSpPr/>
          <p:nvPr/>
        </p:nvSpPr>
        <p:spPr>
          <a:xfrm>
            <a:off x="9827103" y="22407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SIZE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96112" y="2588768"/>
            <a:ext cx="10399471" cy="42164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588768"/>
            <a:ext cx="293696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25681" y="2588768"/>
            <a:ext cx="13770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"20pct"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85602" y="2588768"/>
            <a:ext cx="397690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Names the output folder and every file inside 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827103" y="2662428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0C3D6B"/>
          </a:solidFill>
          <a:ln/>
        </p:spPr>
      </p:sp>
      <p:sp>
        <p:nvSpPr>
          <p:cNvPr id="20" name="Text 18"/>
          <p:cNvSpPr/>
          <p:nvPr/>
        </p:nvSpPr>
        <p:spPr>
          <a:xfrm>
            <a:off x="9827103" y="26624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5840" y="3010408"/>
            <a:ext cx="293696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25681" y="3010408"/>
            <a:ext cx="13770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85602" y="3010408"/>
            <a:ext cx="397690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MATSim replanning iterations written into the config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827103" y="3084068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1E70BE"/>
          </a:solidFill>
          <a:ln/>
        </p:spPr>
      </p:sp>
      <p:sp>
        <p:nvSpPr>
          <p:cNvPr id="25" name="Text 23"/>
          <p:cNvSpPr/>
          <p:nvPr/>
        </p:nvSpPr>
        <p:spPr>
          <a:xfrm>
            <a:off x="9827103" y="30840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SIZE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6112" y="3432048"/>
            <a:ext cx="10399471" cy="42164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432048"/>
            <a:ext cx="293696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25681" y="3432048"/>
            <a:ext cx="13770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(all 20)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85602" y="3432048"/>
            <a:ext cx="397690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TODA zones get a real DRT fleet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827103" y="3505708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1D6E82"/>
          </a:solidFill>
          <a:ln/>
        </p:spPr>
      </p:sp>
      <p:sp>
        <p:nvSpPr>
          <p:cNvPr id="31" name="Text 29"/>
          <p:cNvSpPr/>
          <p:nvPr/>
        </p:nvSpPr>
        <p:spPr>
          <a:xfrm>
            <a:off x="9827103" y="35057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5840" y="3853688"/>
            <a:ext cx="293696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MODE_FLEET_OVERRIDE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25681" y="3853688"/>
            <a:ext cx="13770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85602" y="3853688"/>
            <a:ext cx="397690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Force specific zones to a fixed vehicle count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827103" y="3927348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1D6E82"/>
          </a:solidFill>
          <a:ln/>
        </p:spPr>
      </p:sp>
      <p:sp>
        <p:nvSpPr>
          <p:cNvPr id="36" name="Text 34"/>
          <p:cNvSpPr/>
          <p:nvPr/>
        </p:nvSpPr>
        <p:spPr>
          <a:xfrm>
            <a:off x="9827103" y="39273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96112" y="4275328"/>
            <a:ext cx="10399471" cy="42164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4275328"/>
            <a:ext cx="293696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DRT_FLEET_MINIMUM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25681" y="4275328"/>
            <a:ext cx="13770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85602" y="4275328"/>
            <a:ext cx="397690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 floor on every zone’s fleet size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827103" y="4348988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41B8D5"/>
          </a:solidFill>
          <a:ln/>
        </p:spPr>
      </p:sp>
      <p:sp>
        <p:nvSpPr>
          <p:cNvPr id="42" name="Text 40"/>
          <p:cNvSpPr/>
          <p:nvPr/>
        </p:nvSpPr>
        <p:spPr>
          <a:xfrm>
            <a:off x="9827103" y="43489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SAFETY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05840" y="4696968"/>
            <a:ext cx="293696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TRANSIT_CAPACITY_MINIMUM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125681" y="4696968"/>
            <a:ext cx="13770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85602" y="4696968"/>
            <a:ext cx="397690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 floor on bus seat capacity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827103" y="4770628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41B8D5"/>
          </a:solidFill>
          <a:ln/>
        </p:spPr>
      </p:sp>
      <p:sp>
        <p:nvSpPr>
          <p:cNvPr id="47" name="Text 45"/>
          <p:cNvSpPr/>
          <p:nvPr/>
        </p:nvSpPr>
        <p:spPr>
          <a:xfrm>
            <a:off x="9827103" y="47706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SAFETY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96112" y="5118608"/>
            <a:ext cx="10399471" cy="42164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49" name="Text 47"/>
          <p:cNvSpPr/>
          <p:nvPr/>
        </p:nvSpPr>
        <p:spPr>
          <a:xfrm>
            <a:off x="1005840" y="5118608"/>
            <a:ext cx="293696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25681" y="5118608"/>
            <a:ext cx="13770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4711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85602" y="5118608"/>
            <a:ext cx="397690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seed for reproducible population sampling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827103" y="5192268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0C3D6B"/>
          </a:solidFill>
          <a:ln/>
        </p:spPr>
      </p:sp>
      <p:sp>
        <p:nvSpPr>
          <p:cNvPr id="53" name="Text 51"/>
          <p:cNvSpPr/>
          <p:nvPr/>
        </p:nvSpPr>
        <p:spPr>
          <a:xfrm>
            <a:off x="9827103" y="51922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05840" y="5540248"/>
            <a:ext cx="293696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2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CONFIG_TEMPLATE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25681" y="5540248"/>
            <a:ext cx="1377041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6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input\drt-run-config-template.xml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685602" y="5540248"/>
            <a:ext cx="397690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 config this tool edits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827103" y="5613908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0C3D6B"/>
          </a:solidFill>
          <a:ln/>
        </p:spPr>
      </p:sp>
      <p:sp>
        <p:nvSpPr>
          <p:cNvPr id="58" name="Text 56"/>
          <p:cNvSpPr/>
          <p:nvPr/>
        </p:nvSpPr>
        <p:spPr>
          <a:xfrm>
            <a:off x="9827103" y="56139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PPC DRT Downsampler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Fixing network storage capacity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774375" y="384048"/>
            <a:ext cx="658368" cy="658368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5" name="Text 3"/>
          <p:cNvSpPr/>
          <p:nvPr/>
        </p:nvSpPr>
        <p:spPr>
          <a:xfrm>
            <a:off x="10774375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X100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98448"/>
            <a:ext cx="1415491" cy="310896"/>
          </a:xfrm>
          <a:prstGeom prst="roundRect">
            <a:avLst>
              <a:gd name="adj" fmla="val 47000"/>
            </a:avLst>
          </a:prstGeom>
          <a:solidFill>
            <a:srgbClr val="E8F1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98448"/>
            <a:ext cx="14154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E70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ARTIFICIAL LINKS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83003" y="1380744"/>
            <a:ext cx="204826" cy="146304"/>
          </a:xfrm>
          <a:prstGeom prst="rightArrow">
            <a:avLst/>
          </a:prstGeom>
          <a:solidFill>
            <a:srgbClr val="5C7C99"/>
          </a:solidFill>
          <a:ln/>
        </p:spPr>
      </p:sp>
      <p:sp>
        <p:nvSpPr>
          <p:cNvPr id="9" name="Shape 7"/>
          <p:cNvSpPr/>
          <p:nvPr/>
        </p:nvSpPr>
        <p:spPr>
          <a:xfrm>
            <a:off x="2311603" y="1298448"/>
            <a:ext cx="1870862" cy="310896"/>
          </a:xfrm>
          <a:prstGeom prst="roundRect">
            <a:avLst>
              <a:gd name="adj" fmla="val 47000"/>
            </a:avLst>
          </a:prstGeom>
          <a:solidFill>
            <a:srgbClr val="E8F1FA"/>
          </a:solidFill>
          <a:ln/>
        </p:spPr>
      </p:sp>
      <p:sp>
        <p:nvSpPr>
          <p:cNvPr id="10" name="Text 8"/>
          <p:cNvSpPr/>
          <p:nvPr/>
        </p:nvSpPr>
        <p:spPr>
          <a:xfrm>
            <a:off x="2311603" y="1298448"/>
            <a:ext cx="1870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E70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TERMINAL / DEPOT LINKS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9898" y="1380744"/>
            <a:ext cx="204826" cy="146304"/>
          </a:xfrm>
          <a:prstGeom prst="rightArrow">
            <a:avLst/>
          </a:prstGeom>
          <a:solidFill>
            <a:srgbClr val="5C7C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8498" y="1298448"/>
            <a:ext cx="1263701" cy="310896"/>
          </a:xfrm>
          <a:prstGeom prst="roundRect">
            <a:avLst>
              <a:gd name="adj" fmla="val 47000"/>
            </a:avLst>
          </a:prstGeom>
          <a:solidFill>
            <a:srgbClr val="41B8D5"/>
          </a:solidFill>
          <a:ln/>
        </p:spPr>
      </p:sp>
      <p:sp>
        <p:nvSpPr>
          <p:cNvPr id="13" name="Text 11"/>
          <p:cNvSpPr/>
          <p:nvPr/>
        </p:nvSpPr>
        <p:spPr>
          <a:xfrm>
            <a:off x="4438498" y="1298448"/>
            <a:ext cx="1263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×100 PERMLANES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3454298" cy="3246120"/>
          </a:xfrm>
          <a:prstGeom prst="roundRect">
            <a:avLst>
              <a:gd name="adj" fmla="val 6761"/>
            </a:avLst>
          </a:prstGeom>
          <a:solidFill>
            <a:srgbClr val="F3F7F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194560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1E70B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" y="258775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017520"/>
            <a:ext cx="299709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storageCapacityFactor scales every link’s storage (length × permlanes) down with FRACTION. Short synthetic connector links radiating from each transit stop get crushed to a ~1-vehicle floor.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68698" y="1965960"/>
            <a:ext cx="3454298" cy="3246120"/>
          </a:xfrm>
          <a:prstGeom prst="roundRect">
            <a:avLst>
              <a:gd name="adj" fmla="val 6761"/>
            </a:avLst>
          </a:prstGeom>
          <a:solidFill>
            <a:srgbClr val="F3F7F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7298" y="2194560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41B8D5"/>
          </a:solidFill>
          <a:ln/>
        </p:spPr>
      </p:sp>
      <p:sp>
        <p:nvSpPr>
          <p:cNvPr id="21" name="Text 19"/>
          <p:cNvSpPr/>
          <p:nvPr/>
        </p:nvSpPr>
        <p:spPr>
          <a:xfrm>
            <a:off x="4597298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97298" y="258775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7298" y="3017520"/>
            <a:ext cx="299709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Multiple trunk PT routes funnel through the same stop and queue single-file. Separately, idle DRT vehicles converge on a zone’s few real terminal links, oversubscribing the same tiny queue space.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97317" y="1965960"/>
            <a:ext cx="3454298" cy="3246120"/>
          </a:xfrm>
          <a:prstGeom prst="roundRect">
            <a:avLst>
              <a:gd name="adj" fmla="val 6761"/>
            </a:avLst>
          </a:prstGeom>
          <a:solidFill>
            <a:srgbClr val="F3F7FB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5917" y="2194560"/>
            <a:ext cx="1051560" cy="274320"/>
          </a:xfrm>
          <a:prstGeom prst="roundRect">
            <a:avLst>
              <a:gd name="adj" fmla="val 47000"/>
            </a:avLst>
          </a:prstGeom>
          <a:solidFill>
            <a:srgbClr val="41B8D5"/>
          </a:solidFill>
          <a:ln/>
        </p:spPr>
      </p:sp>
      <p:sp>
        <p:nvSpPr>
          <p:cNvPr id="26" name="Text 24"/>
          <p:cNvSpPr/>
          <p:nvPr/>
        </p:nvSpPr>
        <p:spPr>
          <a:xfrm>
            <a:off x="8325917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25917" y="258775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5917" y="3017520"/>
            <a:ext cx="299709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Multiply permlanes ×100 on artificial (non-car) links, and separately on every link registered as a DRT terminal stop — never on ordinary car-mode roads.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486400"/>
            <a:ext cx="10911535" cy="777240"/>
          </a:xfrm>
          <a:prstGeom prst="roundRect">
            <a:avLst>
              <a:gd name="adj" fmla="val 28235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5701284"/>
            <a:ext cx="347472" cy="347472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7012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17320" y="54864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 in testing: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D9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forcing capacity factors to 1.0 as a diagnostic took car-mode stuckAndAbort from 91 → 0, isolating this as the cause — this fix generalizes it to any FRACTION.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PPC DRT Downsampler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HONEST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What’s solid, what’s still on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72888" cy="4617720"/>
          </a:xfrm>
          <a:prstGeom prst="roundRect">
            <a:avLst>
              <a:gd name="adj" fmla="val 47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457200" cy="457200"/>
          </a:xfrm>
          <a:prstGeom prst="ellipse">
            <a:avLst/>
          </a:prstGeom>
          <a:solidFill>
            <a:srgbClr val="2E8B6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Solid today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660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E8B67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496312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Population downsampling — verified line-for-line against MATSim’s own StreamingPopulationWriter, from matsim-2025.0-sources.jar.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35295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E8B67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364992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Self-containment — checked on every run, not just claimed: every referenced file is confirmed to exist.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43982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E8B67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233672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Safety floors — fleet size and bus capacity minimums are enforced even under a fixed MODE_FLEET_OVERRIDE.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5266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E8B67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102352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JVM/Maven/git dependency — plain Python 3, standard library only.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8728" y="1554480"/>
            <a:ext cx="5272888" cy="4617720"/>
          </a:xfrm>
          <a:prstGeom prst="roundRect">
            <a:avLst>
              <a:gd name="adj" fmla="val 47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874520"/>
            <a:ext cx="457200" cy="457200"/>
          </a:xfrm>
          <a:prstGeom prst="ellipse">
            <a:avLst/>
          </a:prstGeom>
          <a:solidFill>
            <a:srgbClr val="B8770C"/>
          </a:solidFill>
          <a:ln/>
        </p:spPr>
      </p:sp>
      <p:sp>
        <p:nvSpPr>
          <p:cNvPr id="18" name="Text 16"/>
          <p:cNvSpPr/>
          <p:nvPr/>
        </p:nvSpPr>
        <p:spPr>
          <a:xfrm>
            <a:off x="65987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93128" y="1920240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Still out of scope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98768" y="2660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8770C"/>
          </a:solidFill>
          <a:ln/>
        </p:spPr>
      </p:sp>
      <p:sp>
        <p:nvSpPr>
          <p:cNvPr id="21" name="Text 19"/>
          <p:cNvSpPr/>
          <p:nvPr/>
        </p:nvSpPr>
        <p:spPr>
          <a:xfrm>
            <a:off x="6873088" y="2496312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Running MATSim itself — this tool stops at the config folder; you still need a JDK/Maven DRT setup to simulate it.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98768" y="35295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8770C"/>
          </a:solidFill>
          <a:ln/>
        </p:spPr>
      </p:sp>
      <p:sp>
        <p:nvSpPr>
          <p:cNvPr id="23" name="Text 21"/>
          <p:cNvSpPr/>
          <p:nvPr/>
        </p:nvSpPr>
        <p:spPr>
          <a:xfrm>
            <a:off x="6873088" y="3364992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Bit-for-bit reproducibility — Python and Java use different RNGs, so results differ even with the same seed (the sampling rule is identical).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98768" y="43982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8770C"/>
          </a:solidFill>
          <a:ln/>
        </p:spPr>
      </p:sp>
      <p:sp>
        <p:nvSpPr>
          <p:cNvPr id="25" name="Text 23"/>
          <p:cNvSpPr/>
          <p:nvPr/>
        </p:nvSpPr>
        <p:spPr>
          <a:xfrm>
            <a:off x="6873088" y="4233672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Choosing FRACTION and ITERATIONS for you — those remain per-use-case judgment calls.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PPC DRT Downsampler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pipeline in four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7854" cy="3291840"/>
          </a:xfrm>
          <a:prstGeom prst="roundRect">
            <a:avLst>
              <a:gd name="adj" fmla="val 8821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31720"/>
            <a:ext cx="24878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2030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zones supported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7974" y="1828800"/>
            <a:ext cx="2487854" cy="3291840"/>
          </a:xfrm>
          <a:prstGeom prst="roundRect">
            <a:avLst>
              <a:gd name="adj" fmla="val 8821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7974" y="2331720"/>
            <a:ext cx="24878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676574" y="3977640"/>
            <a:ext cx="2030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steps, one run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1828800"/>
            <a:ext cx="2487854" cy="3291840"/>
          </a:xfrm>
          <a:prstGeom prst="roundRect">
            <a:avLst>
              <a:gd name="adj" fmla="val 8821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5868" y="2331720"/>
            <a:ext cx="24878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484468" y="3977640"/>
            <a:ext cx="2030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default MATSim iterations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63761" y="1828800"/>
            <a:ext cx="2487854" cy="3291840"/>
          </a:xfrm>
          <a:prstGeom prst="roundRect">
            <a:avLst>
              <a:gd name="adj" fmla="val 8821"/>
            </a:avLst>
          </a:prstGeom>
          <a:solidFill>
            <a:srgbClr val="042748"/>
          </a:solidFill>
          <a:ln/>
          <a:effectLst>
            <a:outerShdw sx="100000" sy="100000" kx="0" ky="0" algn="bl" rotWithShape="0" blurRad="76200" dist="25400" dir="5400000">
              <a:srgbClr val="8FA4BC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63761" y="2331720"/>
            <a:ext cx="24878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1B8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9292361" y="3977640"/>
            <a:ext cx="2030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D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 floor per zone / fleet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PPC DRT Downsampler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C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828800"/>
            <a:ext cx="1005840" cy="1005840"/>
          </a:xfrm>
          <a:prstGeom prst="ellipse">
            <a:avLst/>
          </a:prstGeom>
          <a:solidFill>
            <a:srgbClr val="41B8D5"/>
          </a:solidFill>
          <a:ln/>
        </p:spPr>
      </p:sp>
      <p:sp>
        <p:nvSpPr>
          <p:cNvPr id="3" name="Text 1"/>
          <p:cNvSpPr/>
          <p:nvPr/>
        </p:nvSpPr>
        <p:spPr>
          <a:xfrm>
            <a:off x="5592928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42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81048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C4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about the downsampler? Start with downsample_pipeline.py and README.md.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6177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downsample_pipeline.py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2026-08-24T18:07:52Z</dcterms:created>
  <dcterms:modified xsi:type="dcterms:W3CDTF">2026-08-24T18:07:52Z</dcterms:modified>
</cp:coreProperties>
</file>